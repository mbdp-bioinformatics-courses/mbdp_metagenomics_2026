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4" r:id="rId5"/>
    <p:sldId id="262" r:id="rId6"/>
    <p:sldId id="261" r:id="rId7"/>
    <p:sldId id="265" r:id="rId8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1"/>
    <p:restoredTop sz="96301"/>
  </p:normalViewPr>
  <p:slideViewPr>
    <p:cSldViewPr snapToGrid="0">
      <p:cViewPr varScale="1">
        <p:scale>
          <a:sx n="118" d="100"/>
          <a:sy n="118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AE04-94D5-9E91-4A69-B68E9460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4A23D-1ADB-CAC3-D496-8B046B2D6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0CCE9-FC4F-86B1-CE8E-566C077B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00068-8743-E0EE-ECBB-CBE6E9624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E467A-73BF-2776-F652-956CC2BD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21084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FC07B-5F49-84CA-AF8D-E2F69654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F820E-0C46-115A-6EDF-39707A6B6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D92B9-0F44-517E-12A9-6CE1D0BC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D2EA9-C13D-52CC-FB61-43FCB5FB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0E0BD-C21D-44FA-7343-B37C9B1E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3444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604C-F3E0-EA0C-0E2E-E4FEC1C6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E9CD2-F20F-9F9B-861F-693A1C0A0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8CB86-E532-A2EE-D01B-BB3007E51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FD61-05EC-DD14-D764-6244C141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660C-DF4E-D1F9-D4D8-8F67A0DD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20194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905C-D648-2F6A-4E96-018F3708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A3CC0-7C32-ECB5-847A-CF341EA91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70AEE-9D68-F9A9-763B-0082C3142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131DE-46E0-4E40-329E-0EDF5970C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9BF96-F8E9-0166-633D-E118BCF4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FB4E1-FD48-C0EC-7FB0-DE69DE68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7192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97F67-A2EF-065C-0018-339A76C6F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F3349-8738-CBF7-277C-09C770DB1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CDA55-C993-24FD-3875-7ADC8793C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DA0E7-00B4-FB67-63A8-31DEEAC18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284D5-C4BF-1747-99AE-875E4C79B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736F3-A6ED-DC83-F4D5-DC32FE3A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8F92C5-2231-2FA4-E50C-0814167A2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97971-707A-924C-CBDD-C5F953EC0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5824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E1CB-34A8-688B-B301-F03427D3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9F22A-C107-B491-0727-FF5494D9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C9F9E-B68B-2C3E-90DD-D496732A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28748-8BE1-05CE-6F86-340592C51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2387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AC08C-CCAC-D742-2336-B998E730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D6BC92-A89D-E609-E5B5-D3FBA80D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C7E4D-3318-C8D1-B42C-25628CF8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9066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E683-106B-D388-2F7E-7523F6D7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6D5C-60B8-0D7F-D5CB-C1C167464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FD25C-940C-CA7A-87BD-36781E550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5F21D-E4C8-B7EA-2394-DB4825CD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6D195-B069-D780-DBC6-5F8A03793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7C175-5C32-C49B-F421-CA57EB54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6064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7B84E-6251-38F1-2E25-43DD92C9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FC304E-4ABF-6FAB-7ED3-795CFE318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0F38B-13DC-A609-4C6A-4785CC09A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A55DF-FF50-DB58-C6C4-DC3B488A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42215-9012-A259-6228-F27A87D4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1AA9F-9ADC-F638-20C5-ACEF2CF2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0213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EC29-054E-FBE0-8890-A2929E25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3503E-CAA2-82BC-248E-48D90C9FD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C3BFF-F91E-0927-AFD1-C2D09E79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F86B1-F304-1D0F-9B75-87883C40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5F796-C75E-58E7-2D85-13A5C97EB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2922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0956D-BA9D-88CB-76AD-12DFC1A91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57106-B63E-E14F-04B5-BD04DD3DD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63262-D26D-4A1F-AE81-51FE371E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22354-0915-DC90-139C-31EAFE913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F575F-522C-2B5A-A68C-4EA96E50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4463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EF110-6163-E8BA-E046-A53FFFAA2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B01CA-B9C5-89E3-7954-D78FE9A12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BAA36-B93B-95A3-B5AD-E6D6107D2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8C0AF-AED0-3341-A866-3D7BF0528644}" type="datetimeFigureOut">
              <a:t>31.5.2026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88246-3F3D-FAE2-461F-9FD85B69E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F02C1-7AB1-413D-39E7-82346A7D3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08A33-4ADE-444B-8B09-1649865072EB}" type="slidenum"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8998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6FC5DA-813D-C84C-5556-75AEEBEAD1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FI" b="1"/>
              <a:t>introduction to </a:t>
            </a:r>
            <a:br>
              <a:rPr lang="en-FI" b="1"/>
            </a:br>
            <a:r>
              <a:rPr lang="en-FI" b="1"/>
              <a:t>binning and MAGs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9584F2A-55F6-04D0-CB0B-83AA72CFB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FI"/>
              <a:t>Igor Pessi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506DB6-E883-C1DD-6B6F-E4C24E2AF5F4}"/>
              </a:ext>
            </a:extLst>
          </p:cNvPr>
          <p:cNvSpPr txBox="1"/>
          <p:nvPr/>
        </p:nvSpPr>
        <p:spPr>
          <a:xfrm>
            <a:off x="1524000" y="3839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800" b="1"/>
              <a:t>MBDP metagenomics course</a:t>
            </a:r>
            <a:br>
              <a:rPr lang="en-FI"/>
            </a:br>
            <a:r>
              <a:rPr lang="en-FI"/>
              <a:t>01.05.2026</a:t>
            </a:r>
          </a:p>
        </p:txBody>
      </p:sp>
    </p:spTree>
    <p:extLst>
      <p:ext uri="{BB962C8B-B14F-4D97-AF65-F5344CB8AC3E}">
        <p14:creationId xmlns:p14="http://schemas.microsoft.com/office/powerpoint/2010/main" val="2413145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C23B-20FB-6050-C523-A418718A0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FI" sz="3600" b="1"/>
              <a:t>metagenomic assemblies are often highly fragmented, even with long-read sequencing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E26D32-A9BC-7CA9-806F-DE5CBB6F3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7648404" cy="4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69B28F-DD4E-B802-8098-811C884C7D4B}"/>
              </a:ext>
            </a:extLst>
          </p:cNvPr>
          <p:cNvSpPr txBox="1"/>
          <p:nvPr/>
        </p:nvSpPr>
        <p:spPr>
          <a:xfrm>
            <a:off x="838200" y="6176963"/>
            <a:ext cx="6097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200">
                <a:solidFill>
                  <a:schemeClr val="accent1"/>
                </a:solidFill>
              </a:rPr>
              <a:t>https://merenlab.org/momics/</a:t>
            </a:r>
          </a:p>
        </p:txBody>
      </p:sp>
    </p:spTree>
    <p:extLst>
      <p:ext uri="{BB962C8B-B14F-4D97-AF65-F5344CB8AC3E}">
        <p14:creationId xmlns:p14="http://schemas.microsoft.com/office/powerpoint/2010/main" val="375675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7791-8E53-15FE-412B-18795BD4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FI" sz="3600" b="1"/>
              <a:t>but we can group contigs that are </a:t>
            </a:r>
            <a:br>
              <a:rPr lang="en-FI" sz="3600" b="1"/>
            </a:br>
            <a:r>
              <a:rPr lang="en-FI" sz="3600" b="1"/>
              <a:t>coming from the same 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7CDF2-4AC2-77F1-9F8F-5D73FA7078D4}"/>
              </a:ext>
            </a:extLst>
          </p:cNvPr>
          <p:cNvSpPr txBox="1"/>
          <p:nvPr/>
        </p:nvSpPr>
        <p:spPr>
          <a:xfrm>
            <a:off x="838200" y="6176963"/>
            <a:ext cx="6097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200">
                <a:solidFill>
                  <a:schemeClr val="accent1"/>
                </a:solidFill>
              </a:rPr>
              <a:t>https://merenlab.org/momics/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36AA95-D181-6DB4-CBFE-EE9AAA13B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2942" y="1825625"/>
            <a:ext cx="4680857" cy="4351338"/>
          </a:xfrm>
        </p:spPr>
        <p:txBody>
          <a:bodyPr anchor="ctr"/>
          <a:lstStyle/>
          <a:p>
            <a:pPr marL="0" indent="0">
              <a:buNone/>
            </a:pPr>
            <a:r>
              <a:rPr lang="en-FI"/>
              <a:t>these are also known as population genomes or metagenome-assembled genomes (MAGs)</a:t>
            </a:r>
            <a:br>
              <a:rPr lang="en-FI"/>
            </a:br>
            <a:endParaRPr lang="en-FI"/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3CC56CF4-A0B1-8493-471B-F7A283DAA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6484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61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66B1C802-3F94-CC41-6B9E-380C949A2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648404" cy="4351338"/>
          </a:xfrm>
          <a:prstGeom prst="rect">
            <a:avLst/>
          </a:prstGeom>
        </p:spPr>
      </p:pic>
      <p:pic>
        <p:nvPicPr>
          <p:cNvPr id="15" name="Content Placeholder 11">
            <a:extLst>
              <a:ext uri="{FF2B5EF4-FFF2-40B4-BE49-F238E27FC236}">
                <a16:creationId xmlns:a16="http://schemas.microsoft.com/office/drawing/2014/main" id="{C7222A52-330C-D457-A003-B20D6988F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7648404" cy="4351338"/>
          </a:xfrm>
          <a:prstGeom prst="rect">
            <a:avLst/>
          </a:prstGeom>
        </p:spPr>
      </p:pic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5840D73B-1FCA-5941-1A95-1322D4B17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25625"/>
            <a:ext cx="7648404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860F45-1641-7770-D364-8592985D1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FI" sz="3600" b="1"/>
              <a:t>sequencing coverage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B38800-469E-0C5A-16C0-B49E91BE38B5}"/>
              </a:ext>
            </a:extLst>
          </p:cNvPr>
          <p:cNvSpPr txBox="1"/>
          <p:nvPr/>
        </p:nvSpPr>
        <p:spPr>
          <a:xfrm>
            <a:off x="838200" y="6176963"/>
            <a:ext cx="6097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200">
                <a:solidFill>
                  <a:schemeClr val="accent1"/>
                </a:solidFill>
              </a:rPr>
              <a:t>https://merenlab.org/momics/</a:t>
            </a:r>
          </a:p>
        </p:txBody>
      </p:sp>
    </p:spTree>
    <p:extLst>
      <p:ext uri="{BB962C8B-B14F-4D97-AF65-F5344CB8AC3E}">
        <p14:creationId xmlns:p14="http://schemas.microsoft.com/office/powerpoint/2010/main" val="342645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20">
            <a:extLst>
              <a:ext uri="{FF2B5EF4-FFF2-40B4-BE49-F238E27FC236}">
                <a16:creationId xmlns:a16="http://schemas.microsoft.com/office/drawing/2014/main" id="{3B066FB4-10F7-7AC1-54BF-8FF37191A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648404" cy="4351338"/>
          </a:xfrm>
          <a:prstGeom prst="rect">
            <a:avLst/>
          </a:prstGeom>
        </p:spPr>
      </p:pic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E6FE5DB9-5408-2166-3A4D-835E993C34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1825625"/>
            <a:ext cx="7655131" cy="4351338"/>
          </a:xfrm>
          <a:prstGeom prst="rect">
            <a:avLst/>
          </a:prstGeom>
        </p:spPr>
      </p:pic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A59C2945-0C4E-A649-4828-3C4219583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25625"/>
            <a:ext cx="7648404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BA554B-4FEF-8413-2A84-DD51559ED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FI" sz="3600" b="1"/>
              <a:t>contigs coming from the same population will have similar coverage profiles across different samples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E92ED-D0B4-EE1D-C26D-9E5C308B7382}"/>
              </a:ext>
            </a:extLst>
          </p:cNvPr>
          <p:cNvSpPr txBox="1"/>
          <p:nvPr/>
        </p:nvSpPr>
        <p:spPr>
          <a:xfrm>
            <a:off x="838200" y="6176963"/>
            <a:ext cx="6097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200">
                <a:solidFill>
                  <a:schemeClr val="accent1"/>
                </a:solidFill>
              </a:rPr>
              <a:t>https://merenlab.org/momics/</a:t>
            </a:r>
          </a:p>
        </p:txBody>
      </p:sp>
    </p:spTree>
    <p:extLst>
      <p:ext uri="{BB962C8B-B14F-4D97-AF65-F5344CB8AC3E}">
        <p14:creationId xmlns:p14="http://schemas.microsoft.com/office/powerpoint/2010/main" val="21656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0735C963-DF89-B9B5-7897-1D471CE9F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648404" cy="4351338"/>
          </a:xfrm>
          <a:prstGeom prst="rect">
            <a:avLst/>
          </a:prstGeom>
        </p:spPr>
      </p:pic>
      <p:pic>
        <p:nvPicPr>
          <p:cNvPr id="13" name="Content Placeholder 9">
            <a:extLst>
              <a:ext uri="{FF2B5EF4-FFF2-40B4-BE49-F238E27FC236}">
                <a16:creationId xmlns:a16="http://schemas.microsoft.com/office/drawing/2014/main" id="{F2861BF2-C78B-63B6-ECBE-9EBCA67BC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7648404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61BDA3-9286-C00C-02D5-BFDF7E9D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FI" sz="3600" b="1"/>
              <a:t>contigs coming from the same population will </a:t>
            </a:r>
            <a:br>
              <a:rPr lang="en-FI" sz="3600" b="1"/>
            </a:br>
            <a:r>
              <a:rPr lang="en-FI" sz="3600" b="1"/>
              <a:t>also share similar nucleotide composition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02E9C-21AA-BE44-08C3-AFC092111A1A}"/>
              </a:ext>
            </a:extLst>
          </p:cNvPr>
          <p:cNvSpPr txBox="1"/>
          <p:nvPr/>
        </p:nvSpPr>
        <p:spPr>
          <a:xfrm>
            <a:off x="838200" y="6176963"/>
            <a:ext cx="6097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1200">
                <a:solidFill>
                  <a:schemeClr val="accent1"/>
                </a:solidFill>
              </a:rPr>
              <a:t>https://merenlab.org/momics/</a:t>
            </a:r>
          </a:p>
        </p:txBody>
      </p:sp>
    </p:spTree>
    <p:extLst>
      <p:ext uri="{BB962C8B-B14F-4D97-AF65-F5344CB8AC3E}">
        <p14:creationId xmlns:p14="http://schemas.microsoft.com/office/powerpoint/2010/main" val="24583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C195B-17A1-CC74-AE06-1031E62D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FI" sz="3600" b="1"/>
              <a:t>sequence composition </a:t>
            </a:r>
            <a:r>
              <a:rPr lang="en-FI" sz="3600" b="1">
                <a:solidFill>
                  <a:schemeClr val="accent2"/>
                </a:solidFill>
              </a:rPr>
              <a:t>and </a:t>
            </a:r>
            <a:r>
              <a:rPr lang="en-FI" sz="3600" b="1"/>
              <a:t>differential coverage are the main concepts behind MAG binning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1BE0B-4A88-BF87-0960-9FAB4D730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some binning algorithms also use </a:t>
            </a:r>
            <a:br>
              <a:rPr lang="en-FI"/>
            </a:br>
            <a:r>
              <a:rPr lang="en-FI"/>
              <a:t>taxonomic annotation and assembly graphs</a:t>
            </a:r>
          </a:p>
          <a:p>
            <a:pPr marL="0" indent="0">
              <a:buNone/>
            </a:pPr>
            <a:r>
              <a:rPr lang="en-FI"/>
              <a:t>machine learning algorithms are also popular</a:t>
            </a:r>
          </a:p>
          <a:p>
            <a:pPr marL="0" indent="0">
              <a:buNone/>
            </a:pPr>
            <a:endParaRPr lang="en-FI"/>
          </a:p>
          <a:p>
            <a:pPr marL="0" indent="0">
              <a:buNone/>
            </a:pPr>
            <a:r>
              <a:rPr lang="en-FI"/>
              <a:t>other important things</a:t>
            </a:r>
          </a:p>
          <a:p>
            <a:pPr lvl="1"/>
            <a:r>
              <a:rPr lang="en-FI"/>
              <a:t>manual </a:t>
            </a:r>
            <a:r>
              <a:rPr lang="en-FI" i="1"/>
              <a:t>versus</a:t>
            </a:r>
            <a:r>
              <a:rPr lang="en-FI"/>
              <a:t> automatic binning</a:t>
            </a:r>
          </a:p>
          <a:p>
            <a:pPr lvl="1"/>
            <a:r>
              <a:rPr lang="en-FI"/>
              <a:t>individual </a:t>
            </a:r>
            <a:r>
              <a:rPr lang="en-FI" i="1"/>
              <a:t>versus</a:t>
            </a:r>
            <a:r>
              <a:rPr lang="en-FI"/>
              <a:t> co-assemblies</a:t>
            </a:r>
          </a:p>
          <a:p>
            <a:pPr lvl="1"/>
            <a:r>
              <a:rPr lang="en-FI"/>
              <a:t>single- </a:t>
            </a:r>
            <a:r>
              <a:rPr lang="en-FI" i="1"/>
              <a:t>versus</a:t>
            </a:r>
            <a:r>
              <a:rPr lang="en-FI"/>
              <a:t> multi-sample mapping</a:t>
            </a:r>
          </a:p>
          <a:p>
            <a:pPr lvl="1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80969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163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introduction to  binning and MAGs</vt:lpstr>
      <vt:lpstr>metagenomic assemblies are often highly fragmented, even with long-read sequencing</vt:lpstr>
      <vt:lpstr>but we can group contigs that are  coming from the same population</vt:lpstr>
      <vt:lpstr>sequencing coverage</vt:lpstr>
      <vt:lpstr>contigs coming from the same population will have similar coverage profiles across different samples</vt:lpstr>
      <vt:lpstr>contigs coming from the same population will  also share similar nucleotide composition</vt:lpstr>
      <vt:lpstr>sequence composition and differential coverage are the main concepts behind MAG binning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Pessi Igor</dc:creator>
  <cp:lastModifiedBy>Pessi Igor</cp:lastModifiedBy>
  <cp:revision>4</cp:revision>
  <dcterms:created xsi:type="dcterms:W3CDTF">2026-05-27T06:23:02Z</dcterms:created>
  <dcterms:modified xsi:type="dcterms:W3CDTF">2026-05-31T14:27:02Z</dcterms:modified>
</cp:coreProperties>
</file>